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6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9" r:id="rId31"/>
    <p:sldId id="28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E32F0-7AE8-4B29-8B68-5634CB0FEE4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3F355-F473-4B19-B622-7074F6BAE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17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7269-6B39-51B5-BE96-7BBB9B3FC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DE001-4910-CCE5-9562-7F416C9A8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5B1BC-DD10-4527-CF3A-428EBF1D3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E2D2F-1AA4-113A-E4A3-C9F734FF5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6FCF4-0484-78CF-107D-378C1A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682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BD9E-9517-0916-5348-5C8BD1BC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ACF3B-C44D-C5FC-C13D-31D4196AD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2A561-1B7D-43B1-3137-4F6A10B0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343C9-F0A2-3163-B9A9-9784E5CF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D23CE-6343-7139-70DB-15DEE2D9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68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101D-F47E-A385-54F5-B23D73E5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08B78-6375-9DF5-FB9E-ECEFBF15B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023DB-6D59-23CC-7CD8-4FE748A8B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43B26-6B9E-2870-C549-87DD1E725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CD089-3A3A-45C1-E972-ED6D1DA0E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82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7163D-3665-743A-C44C-0B559911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C1E00-D656-260F-035B-723EA60F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58BE8-BD47-0B51-FF5E-138786EAB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928CA-B157-EEE8-3789-3E3155DB9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8CAD4-7921-D804-C100-EA44719B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90FD1-30E8-403D-8EBB-4245FB03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51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03553-ACA3-68B1-1AF2-0B87DB143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AC45D-D49B-8A21-11D1-49E74639D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112B7-5945-52E1-14A2-439EEB5B7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A2628-725C-6B78-0768-A9DF3A1B5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5EF04-0878-1F7A-ECFD-D9B6399ED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CB392-005E-B4C8-030C-4FBCBD09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5D914-3F7C-C61A-FD0F-64E61EC9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CDE4-3E23-3B34-355D-9016D77E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33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EF95-9AEE-4BED-51EF-661372F3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15809-B7F0-BC54-E6CF-3B33C7FB6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795F1-9F34-780F-A965-B01B0A8F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C25B3-A685-E801-637A-B6971D99C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560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F7EE1-0EED-F865-63F6-E75D9D3B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28AC2D-66E7-CEAA-38B4-8945F81B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C945F-F116-78B5-26B4-7769BE9E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0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78DC-5D01-1131-70EE-778A75B0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A5D2-EFEE-E7CF-76FC-5B54AA31A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600F0-FA93-CE3E-F792-45E8E465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436D7-ED9B-5632-171F-E6CF22C1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48B44-5528-3ADD-0D92-42743989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EAE0B-5AE4-2EE8-629C-D1BA8667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26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B198-6144-9310-C7B3-DF710FD6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66F26-45F1-D2D9-2AA1-2A1748071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40394-77F2-2AD8-C2FA-1AA6DB7C3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C90D7-423D-FB44-208C-2E2B3ACD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0527A-AEE0-A3C3-BE35-F480B9A6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F3796-8809-F2D7-1C95-4C72AA37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16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0570-6450-E3DE-5497-6E12CD15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1C295-B145-797F-CF25-AA63E12BC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71A7D-629C-E388-3FC7-5D0F842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6A3F7-CB19-1BC9-A215-A8B674D1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AE01D-712D-5D08-86D8-727A5DD8E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3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B78A9-5772-4718-1E43-A5848E626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A59D-E496-1346-4E53-4F28ABA46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D0A6B-2018-5D22-9879-D7274762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B9B48-9771-C4D5-2F01-8C02AEC8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C316-1957-263C-65BE-1E6D6FE6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63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54FF8A-802F-50B7-20AD-81DB541C1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0FC90-E59E-1B23-747F-717EA8892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09DC2-4E24-74D7-B9D0-0C1A95706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2AC98-0814-4801-902B-E766D2BC33F5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A6C7D-CBCE-ACB8-EF58-0486AB1F7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DBB21-1ED7-8031-19BB-FA38934DC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9067C-22CB-4CF2-9F4A-183C0B63B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87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hdphoto" Target="../media/hdphoto3.wdp"/><Relationship Id="rId7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uilding store cartoon style 3d rendering, illustration">
            <a:extLst>
              <a:ext uri="{FF2B5EF4-FFF2-40B4-BE49-F238E27FC236}">
                <a16:creationId xmlns:a16="http://schemas.microsoft.com/office/drawing/2014/main" id="{A300EAE3-C26E-EE43-A65F-C2D6AA23BA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000"/>
                    </a14:imgEffect>
                    <a14:imgEffect>
                      <a14:saturation sat="114000"/>
                    </a14:imgEffect>
                  </a14:imgLayer>
                </a14:imgProps>
              </a:ext>
            </a:extLst>
          </a:blip>
          <a:srcRect r="749" b="2088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88E27B-8606-C8D9-6D0B-F0B7320AFAE5}"/>
              </a:ext>
            </a:extLst>
          </p:cNvPr>
          <p:cNvSpPr txBox="1"/>
          <p:nvPr/>
        </p:nvSpPr>
        <p:spPr>
          <a:xfrm>
            <a:off x="914400" y="1463040"/>
            <a:ext cx="10232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accent2">
                    <a:lumMod val="75000"/>
                  </a:schemeClr>
                </a:solidFill>
                <a:latin typeface="Californian FB" panose="0207040306080B030204" pitchFamily="18" charset="0"/>
              </a:rPr>
              <a:t>GROCERY STORE MANAGEMENT</a:t>
            </a:r>
          </a:p>
        </p:txBody>
      </p:sp>
      <p:pic>
        <p:nvPicPr>
          <p:cNvPr id="15" name="Picture 14" descr="Innomatics Technology Hub in JNTU, Kukatpally, Hyderabad">
            <a:extLst>
              <a:ext uri="{FF2B5EF4-FFF2-40B4-BE49-F238E27FC236}">
                <a16:creationId xmlns:a16="http://schemas.microsoft.com/office/drawing/2014/main" id="{08F46861-BA5E-F68F-A045-A82C2F0F4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8DBABC-DD46-93FF-C7C3-6EC86EF9445F}"/>
              </a:ext>
            </a:extLst>
          </p:cNvPr>
          <p:cNvSpPr txBox="1"/>
          <p:nvPr/>
        </p:nvSpPr>
        <p:spPr>
          <a:xfrm>
            <a:off x="3684148" y="816709"/>
            <a:ext cx="520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Californian FB" panose="0207040306080B030204" pitchFamily="18" charset="0"/>
              </a:rPr>
              <a:t>A SQL PROJECT 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F15E4-5B49-B80D-BE04-2E5082E38F7F}"/>
              </a:ext>
            </a:extLst>
          </p:cNvPr>
          <p:cNvSpPr txBox="1"/>
          <p:nvPr/>
        </p:nvSpPr>
        <p:spPr>
          <a:xfrm>
            <a:off x="8701548" y="6041291"/>
            <a:ext cx="34904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Californian FB" panose="0207040306080B030204" pitchFamily="18" charset="0"/>
              </a:rPr>
              <a:t>Presented by</a:t>
            </a:r>
          </a:p>
          <a:p>
            <a:r>
              <a:rPr lang="en-IN" sz="2800" b="1" dirty="0">
                <a:solidFill>
                  <a:schemeClr val="accent2">
                    <a:lumMod val="50000"/>
                  </a:schemeClr>
                </a:solidFill>
                <a:latin typeface="Californian FB" panose="0207040306080B030204" pitchFamily="18" charset="0"/>
              </a:rPr>
              <a:t>Digoju Prabhukumar</a:t>
            </a:r>
          </a:p>
        </p:txBody>
      </p:sp>
    </p:spTree>
    <p:extLst>
      <p:ext uri="{BB962C8B-B14F-4D97-AF65-F5344CB8AC3E}">
        <p14:creationId xmlns:p14="http://schemas.microsoft.com/office/powerpoint/2010/main" val="1984634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uilding store cartoon style 3d rendering, illustration">
            <a:extLst>
              <a:ext uri="{FF2B5EF4-FFF2-40B4-BE49-F238E27FC236}">
                <a16:creationId xmlns:a16="http://schemas.microsoft.com/office/drawing/2014/main" id="{9F31FC2E-DD35-5404-43F2-A865AAA62B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000"/>
                    </a14:imgEffect>
                    <a14:imgEffect>
                      <a14:saturation sat="114000"/>
                    </a14:imgEffect>
                  </a14:imgLayer>
                </a14:imgProps>
              </a:ext>
            </a:extLst>
          </a:blip>
          <a:srcRect r="749" b="2088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2EBDCD-AC40-CDE4-C41F-D3DC12BEB36C}"/>
              </a:ext>
            </a:extLst>
          </p:cNvPr>
          <p:cNvSpPr txBox="1"/>
          <p:nvPr/>
        </p:nvSpPr>
        <p:spPr>
          <a:xfrm>
            <a:off x="518160" y="386080"/>
            <a:ext cx="11297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lifornian FB" panose="0207040306080B0302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EB49F-E73A-DDA7-96A6-FD211233EC2B}"/>
              </a:ext>
            </a:extLst>
          </p:cNvPr>
          <p:cNvSpPr txBox="1"/>
          <p:nvPr/>
        </p:nvSpPr>
        <p:spPr>
          <a:xfrm>
            <a:off x="518160" y="1480046"/>
            <a:ext cx="112979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The Retail and Grocery domain involves managing inventory, suppliers, customer orders, employees, and product categories.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Effective data handling enables businesses to track sales and revenue, monitor stock availability, and evaluate daily operations.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This project simulates a mini grocery store database, </a:t>
            </a:r>
            <a:r>
              <a:rPr lang="en-IN" sz="2400" b="1" dirty="0" err="1">
                <a:latin typeface="Californian FB" panose="0207040306080B030204" pitchFamily="18" charset="0"/>
              </a:rPr>
              <a:t>modeling</a:t>
            </a:r>
            <a:r>
              <a:rPr lang="en-IN" sz="2400" b="1" dirty="0">
                <a:latin typeface="Californian FB" panose="0207040306080B030204" pitchFamily="18" charset="0"/>
              </a:rPr>
              <a:t> entities such as products, orders, and suppliers, and the relationships among them.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It offers hands-on experience in understanding data relationships and operational workflows.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Students use SQL to extract and transform data, gaining valuable business insights.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The goal is to improve decision making and operational efficiency through data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FF73D712-ECFB-6A87-554F-5F5F057EE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6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ocery store. Supermarket, people choosing goods on the shelves of the store. Vector illustration">
            <a:extLst>
              <a:ext uri="{FF2B5EF4-FFF2-40B4-BE49-F238E27FC236}">
                <a16:creationId xmlns:a16="http://schemas.microsoft.com/office/drawing/2014/main" id="{FB2FA56F-2B31-8161-B5C4-8B91F0266A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000"/>
                    </a14:imgEffect>
                    <a14:imgEffect>
                      <a14:saturation sat="1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C96FAB-342C-43EB-0AE9-A00D408E511B}"/>
              </a:ext>
            </a:extLst>
          </p:cNvPr>
          <p:cNvSpPr txBox="1"/>
          <p:nvPr/>
        </p:nvSpPr>
        <p:spPr>
          <a:xfrm>
            <a:off x="5557520" y="233680"/>
            <a:ext cx="1798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fornian FB" panose="0207040306080B030204" pitchFamily="18" charset="0"/>
              </a:rPr>
              <a:t>Tables</a:t>
            </a:r>
            <a:endParaRPr lang="en-IN" sz="2400" b="1" dirty="0">
              <a:latin typeface="Californian FB" panose="0207040306080B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2D08F1-063A-2F82-5153-DFEAC4354BA6}"/>
              </a:ext>
            </a:extLst>
          </p:cNvPr>
          <p:cNvSpPr txBox="1"/>
          <p:nvPr/>
        </p:nvSpPr>
        <p:spPr>
          <a:xfrm>
            <a:off x="1168400" y="1127760"/>
            <a:ext cx="211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fornian FB" panose="0207040306080B030204" pitchFamily="18" charset="0"/>
              </a:rPr>
              <a:t>Products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F8210-AA8D-6B87-550F-23F31A0B8385}"/>
              </a:ext>
            </a:extLst>
          </p:cNvPr>
          <p:cNvSpPr txBox="1"/>
          <p:nvPr/>
        </p:nvSpPr>
        <p:spPr>
          <a:xfrm>
            <a:off x="7945120" y="1280160"/>
            <a:ext cx="283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fornian FB" panose="0207040306080B030204" pitchFamily="18" charset="0"/>
              </a:rPr>
              <a:t>Suppliers 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74A53-81D6-63C8-B81C-A43F6ECB30C2}"/>
              </a:ext>
            </a:extLst>
          </p:cNvPr>
          <p:cNvSpPr txBox="1"/>
          <p:nvPr/>
        </p:nvSpPr>
        <p:spPr>
          <a:xfrm>
            <a:off x="853440" y="4399280"/>
            <a:ext cx="242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fornian FB" panose="0207040306080B030204" pitchFamily="18" charset="0"/>
              </a:rPr>
              <a:t>Customers 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FB9B28-054C-33CD-5C82-1FEDEE9352AB}"/>
              </a:ext>
            </a:extLst>
          </p:cNvPr>
          <p:cNvSpPr txBox="1"/>
          <p:nvPr/>
        </p:nvSpPr>
        <p:spPr>
          <a:xfrm>
            <a:off x="8138160" y="412496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fornian FB" panose="0207040306080B030204" pitchFamily="18" charset="0"/>
              </a:rPr>
              <a:t>Categories table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0EB7CA-DE55-A635-8FC9-76ABC7EC0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1" y="1951330"/>
            <a:ext cx="4688978" cy="14776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D1B974-C181-BF4A-0FA8-C3EEE91ECD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501" y="1881740"/>
            <a:ext cx="3500259" cy="13999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F8A73BE-6CB2-9D43-505D-0B1C77D37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326" y="4860945"/>
            <a:ext cx="4109274" cy="15500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7A14D7F-1698-695A-4313-1A238261FA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5840" y="4876598"/>
            <a:ext cx="4399280" cy="1550015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3EADD732-9459-5E07-05A1-BC04F063F3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1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cery store. Supermarket, people choosing goods on the shelves of the store. Vector illustration">
            <a:extLst>
              <a:ext uri="{FF2B5EF4-FFF2-40B4-BE49-F238E27FC236}">
                <a16:creationId xmlns:a16="http://schemas.microsoft.com/office/drawing/2014/main" id="{B4B741AA-7644-8FBC-7641-1FFB13F624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000"/>
                    </a14:imgEffect>
                    <a14:imgEffect>
                      <a14:saturation sat="1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6200"/>
            <a:ext cx="12344400" cy="7010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1A324A-1C93-F847-DFD2-C7AC88389122}"/>
              </a:ext>
            </a:extLst>
          </p:cNvPr>
          <p:cNvSpPr txBox="1"/>
          <p:nvPr/>
        </p:nvSpPr>
        <p:spPr>
          <a:xfrm>
            <a:off x="3045460" y="538480"/>
            <a:ext cx="58750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Californian FB" panose="0207040306080B030204" pitchFamily="18" charset="0"/>
              </a:rPr>
              <a:t>Tables</a:t>
            </a:r>
            <a:endParaRPr lang="en-IN" sz="2400" b="1" dirty="0">
              <a:latin typeface="Californian FB" panose="0207040306080B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681934-776C-F7B4-08C6-B78D503E15DA}"/>
              </a:ext>
            </a:extLst>
          </p:cNvPr>
          <p:cNvSpPr txBox="1"/>
          <p:nvPr/>
        </p:nvSpPr>
        <p:spPr>
          <a:xfrm>
            <a:off x="792480" y="1097280"/>
            <a:ext cx="2468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fornian FB" panose="0207040306080B030204" pitchFamily="18" charset="0"/>
              </a:rPr>
              <a:t>Employees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933A57-9368-8B47-16F8-4E357756DA00}"/>
              </a:ext>
            </a:extLst>
          </p:cNvPr>
          <p:cNvSpPr txBox="1"/>
          <p:nvPr/>
        </p:nvSpPr>
        <p:spPr>
          <a:xfrm>
            <a:off x="7630160" y="863600"/>
            <a:ext cx="3058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fornian FB" panose="0207040306080B030204" pitchFamily="18" charset="0"/>
              </a:rPr>
              <a:t>Orders 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89AC8A-FE3B-900A-15D4-E251BA7B6825}"/>
              </a:ext>
            </a:extLst>
          </p:cNvPr>
          <p:cNvSpPr txBox="1"/>
          <p:nvPr/>
        </p:nvSpPr>
        <p:spPr>
          <a:xfrm>
            <a:off x="3627120" y="3708401"/>
            <a:ext cx="4003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err="1">
                <a:latin typeface="Californian FB" panose="0207040306080B030204" pitchFamily="18" charset="0"/>
              </a:rPr>
              <a:t>Order_details</a:t>
            </a:r>
            <a:r>
              <a:rPr lang="en-IN" sz="2400" b="1" dirty="0">
                <a:latin typeface="Californian FB" panose="0207040306080B030204" pitchFamily="18" charset="0"/>
              </a:rPr>
              <a:t> table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122F53-BFCF-F5E7-D31A-EAD4E706C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37" y="1767011"/>
            <a:ext cx="4846204" cy="14287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2ABF0C-41A9-14D8-0B1D-7630A8340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961" y="1729376"/>
            <a:ext cx="3759316" cy="16002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CFF6828-C9C5-4522-D748-444AF96E7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6393" y="4268419"/>
            <a:ext cx="4169527" cy="2192983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83FE9CD4-24C0-41EC-1BC2-57EAA1F085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1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4C200-58ED-FF16-FDC8-C1B2FB23F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cery store. Supermarket, people choosing goods on the shelves of the store. Vector illustration">
            <a:extLst>
              <a:ext uri="{FF2B5EF4-FFF2-40B4-BE49-F238E27FC236}">
                <a16:creationId xmlns:a16="http://schemas.microsoft.com/office/drawing/2014/main" id="{BA49DA0F-CDD4-F186-BF19-28EC2008D2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000"/>
                    </a14:imgEffect>
                    <a14:imgEffect>
                      <a14:saturation sat="1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6200"/>
            <a:ext cx="12344400" cy="7010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46AD8A-77FF-B2B4-0676-A3E1F3536686}"/>
              </a:ext>
            </a:extLst>
          </p:cNvPr>
          <p:cNvSpPr txBox="1"/>
          <p:nvPr/>
        </p:nvSpPr>
        <p:spPr>
          <a:xfrm>
            <a:off x="3045460" y="538480"/>
            <a:ext cx="58750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Californian FB" panose="0207040306080B030204" pitchFamily="18" charset="0"/>
              </a:rPr>
              <a:t>ER Diagram</a:t>
            </a:r>
            <a:endParaRPr lang="en-IN" sz="24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33E4F-3216-9A72-8D6B-FDCE9CF4F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" y="1295215"/>
            <a:ext cx="10881360" cy="5024305"/>
          </a:xfrm>
          <a:prstGeom prst="rect">
            <a:avLst/>
          </a:prstGeom>
        </p:spPr>
      </p:pic>
      <p:pic>
        <p:nvPicPr>
          <p:cNvPr id="4" name="Picture 3" descr="Innomatics Technology Hub in JNTU, Kukatpally, Hyderabad">
            <a:extLst>
              <a:ext uri="{FF2B5EF4-FFF2-40B4-BE49-F238E27FC236}">
                <a16:creationId xmlns:a16="http://schemas.microsoft.com/office/drawing/2014/main" id="{0E67EAB5-8D40-B3E1-3191-6AE6086B9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9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91054-7AE0-5881-6FB6-F87D94E6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cery store. Supermarket, people choosing goods on the shelves of the store. Vector illustration">
            <a:extLst>
              <a:ext uri="{FF2B5EF4-FFF2-40B4-BE49-F238E27FC236}">
                <a16:creationId xmlns:a16="http://schemas.microsoft.com/office/drawing/2014/main" id="{DCAD793C-7986-F01C-74A0-C88EC71EC2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000"/>
                    </a14:imgEffect>
                    <a14:imgEffect>
                      <a14:saturation sat="1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6200"/>
            <a:ext cx="12344400" cy="7010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203674-FCC9-E330-3EFE-C497F993B680}"/>
              </a:ext>
            </a:extLst>
          </p:cNvPr>
          <p:cNvSpPr txBox="1"/>
          <p:nvPr/>
        </p:nvSpPr>
        <p:spPr>
          <a:xfrm>
            <a:off x="3045460" y="538480"/>
            <a:ext cx="58750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Californian FB" panose="0207040306080B030204" pitchFamily="18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5A048-B475-3131-62A5-1223D8E25039}"/>
              </a:ext>
            </a:extLst>
          </p:cNvPr>
          <p:cNvSpPr txBox="1"/>
          <p:nvPr/>
        </p:nvSpPr>
        <p:spPr>
          <a:xfrm>
            <a:off x="528320" y="1605280"/>
            <a:ext cx="10769600" cy="4020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just">
              <a:lnSpc>
                <a:spcPct val="118900"/>
              </a:lnSpc>
              <a:spcBef>
                <a:spcPts val="65"/>
              </a:spcBef>
            </a:pPr>
            <a:r>
              <a:rPr lang="en-US" sz="2400" b="1" dirty="0">
                <a:latin typeface="Californian FB" panose="0207040306080B030204" pitchFamily="18" charset="0"/>
                <a:cs typeface="Calibri"/>
              </a:rPr>
              <a:t>In</a:t>
            </a:r>
            <a:r>
              <a:rPr lang="en-US" sz="2400" b="1" spc="42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the</a:t>
            </a:r>
            <a:r>
              <a:rPr lang="en-US" sz="2400" b="1" spc="409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dynamic</a:t>
            </a:r>
            <a:r>
              <a:rPr lang="en-US" sz="2400" b="1" spc="44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environment</a:t>
            </a:r>
            <a:r>
              <a:rPr lang="en-US" sz="2400" b="1" spc="45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of</a:t>
            </a:r>
            <a:r>
              <a:rPr lang="en-US" sz="2400" b="1" spc="44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</a:t>
            </a:r>
            <a:r>
              <a:rPr lang="en-US" sz="2400" b="1" spc="45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retail</a:t>
            </a:r>
            <a:r>
              <a:rPr lang="en-US" sz="2400" b="1" spc="42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grocery</a:t>
            </a:r>
            <a:r>
              <a:rPr lang="en-US" sz="2400" b="1" spc="459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store,</a:t>
            </a:r>
            <a:r>
              <a:rPr lang="en-US" sz="2400" b="1" spc="44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managing</a:t>
            </a:r>
            <a:r>
              <a:rPr lang="en-US" sz="2400" b="1" spc="45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and</a:t>
            </a:r>
            <a:r>
              <a:rPr lang="en-US" sz="2400" b="1" spc="434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spc="-10" dirty="0">
                <a:latin typeface="Californian FB" panose="0207040306080B030204" pitchFamily="18" charset="0"/>
                <a:cs typeface="Calibri"/>
              </a:rPr>
              <a:t>analyzing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large</a:t>
            </a:r>
            <a:r>
              <a:rPr lang="en-US" sz="2400" b="1" spc="459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volumes</a:t>
            </a:r>
            <a:r>
              <a:rPr lang="en-US" sz="2400" b="1" spc="48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of</a:t>
            </a:r>
            <a:r>
              <a:rPr lang="en-US" sz="2400" b="1" spc="44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data</a:t>
            </a:r>
            <a:r>
              <a:rPr lang="en-US" sz="2400" b="1" spc="47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related</a:t>
            </a:r>
            <a:r>
              <a:rPr lang="en-US" sz="2400" b="1" spc="459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to</a:t>
            </a:r>
            <a:r>
              <a:rPr lang="en-US" sz="2400" b="1" spc="459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products,</a:t>
            </a:r>
            <a:r>
              <a:rPr lang="en-US" sz="2400" b="1" spc="45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suppliers,</a:t>
            </a:r>
            <a:r>
              <a:rPr lang="en-US" sz="2400" b="1" spc="49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customers,</a:t>
            </a:r>
            <a:r>
              <a:rPr lang="en-US" sz="2400" b="1" spc="49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and</a:t>
            </a:r>
            <a:r>
              <a:rPr lang="en-US" sz="2400" b="1" spc="44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orders</a:t>
            </a:r>
            <a:r>
              <a:rPr lang="en-US" sz="2400" b="1" spc="50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spc="-25" dirty="0">
                <a:latin typeface="Californian FB" panose="0207040306080B030204" pitchFamily="18" charset="0"/>
                <a:cs typeface="Calibri"/>
              </a:rPr>
              <a:t>is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crucial</a:t>
            </a:r>
            <a:r>
              <a:rPr lang="en-US" sz="2400" b="1" spc="24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for</a:t>
            </a:r>
            <a:r>
              <a:rPr lang="en-US" sz="2400" b="1" spc="229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efficient</a:t>
            </a:r>
            <a:r>
              <a:rPr lang="en-US" sz="2400" b="1" spc="24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operations</a:t>
            </a:r>
            <a:r>
              <a:rPr lang="en-US" sz="2400" b="1" spc="25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and</a:t>
            </a:r>
            <a:r>
              <a:rPr lang="en-US" sz="2400" b="1" spc="23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informed</a:t>
            </a:r>
            <a:r>
              <a:rPr lang="en-US" sz="2400" b="1" spc="27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decision making.</a:t>
            </a:r>
            <a:r>
              <a:rPr lang="en-US" sz="2400" b="1" spc="24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This</a:t>
            </a:r>
            <a:r>
              <a:rPr lang="en-US" sz="2400" b="1" spc="27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project</a:t>
            </a:r>
            <a:r>
              <a:rPr lang="en-US" sz="2400" b="1" spc="21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spc="-20" dirty="0">
                <a:latin typeface="Californian FB" panose="0207040306080B030204" pitchFamily="18" charset="0"/>
                <a:cs typeface="Calibri"/>
              </a:rPr>
              <a:t>aims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to</a:t>
            </a:r>
            <a:r>
              <a:rPr lang="en-US" sz="2400" b="1" spc="49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design</a:t>
            </a:r>
            <a:r>
              <a:rPr lang="en-US" sz="2400" b="1" spc="53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and</a:t>
            </a:r>
            <a:r>
              <a:rPr lang="en-US" sz="2400" b="1" spc="47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implement</a:t>
            </a:r>
            <a:r>
              <a:rPr lang="en-US" sz="2400" b="1" spc="49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</a:t>
            </a:r>
            <a:r>
              <a:rPr lang="en-US" sz="2400" b="1" spc="49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relational</a:t>
            </a:r>
            <a:r>
              <a:rPr lang="en-US" sz="2400" b="1" spc="52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database</a:t>
            </a:r>
            <a:r>
              <a:rPr lang="en-US" sz="2400" b="1" spc="484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system</a:t>
            </a:r>
            <a:r>
              <a:rPr lang="en-US" sz="2400" b="1" spc="46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that</a:t>
            </a:r>
            <a:r>
              <a:rPr lang="en-US" sz="2400" b="1" spc="46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captures</a:t>
            </a:r>
            <a:r>
              <a:rPr lang="en-US" sz="2400" b="1" spc="51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spc="-10" dirty="0">
                <a:latin typeface="Californian FB" panose="0207040306080B030204" pitchFamily="18" charset="0"/>
                <a:cs typeface="Calibri"/>
              </a:rPr>
              <a:t>essential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store</a:t>
            </a:r>
            <a:r>
              <a:rPr lang="en-US" sz="2400" b="1" spc="16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activities</a:t>
            </a:r>
            <a:r>
              <a:rPr lang="en-US" sz="2400" b="1" spc="18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and</a:t>
            </a:r>
            <a:r>
              <a:rPr lang="en-US" sz="2400" b="1" spc="13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enables</a:t>
            </a:r>
            <a:r>
              <a:rPr lang="en-US" sz="2400" b="1" spc="14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users</a:t>
            </a:r>
            <a:r>
              <a:rPr lang="en-US" sz="2400" b="1" spc="17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to</a:t>
            </a:r>
            <a:r>
              <a:rPr lang="en-US" sz="2400" b="1" spc="14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retrieve</a:t>
            </a:r>
            <a:r>
              <a:rPr lang="en-US" sz="2400" b="1" spc="14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and</a:t>
            </a:r>
            <a:r>
              <a:rPr lang="en-US" sz="2400" b="1" spc="13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analyze</a:t>
            </a:r>
            <a:r>
              <a:rPr lang="en-US" sz="2400" b="1" spc="15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data</a:t>
            </a:r>
            <a:r>
              <a:rPr lang="en-US" sz="2400" b="1" spc="16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through</a:t>
            </a:r>
            <a:r>
              <a:rPr lang="en-US" sz="2400" b="1" spc="17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SQL.</a:t>
            </a:r>
            <a:r>
              <a:rPr lang="en-US" sz="2400" b="1" spc="14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spc="-25" dirty="0">
                <a:latin typeface="Californian FB" panose="0207040306080B030204" pitchFamily="18" charset="0"/>
                <a:cs typeface="Calibri"/>
              </a:rPr>
              <a:t>The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system</a:t>
            </a:r>
            <a:r>
              <a:rPr lang="en-US" sz="2400" b="1" spc="55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will</a:t>
            </a:r>
            <a:r>
              <a:rPr lang="en-US" sz="2400" b="1" spc="58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support</a:t>
            </a:r>
            <a:r>
              <a:rPr lang="en-US" sz="2400" b="1" spc="57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complex</a:t>
            </a:r>
            <a:r>
              <a:rPr lang="en-US" sz="2400" b="1" spc="58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queries</a:t>
            </a:r>
            <a:r>
              <a:rPr lang="en-US" sz="2400" b="1" spc="56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to</a:t>
            </a:r>
            <a:r>
              <a:rPr lang="en-US" sz="2400" b="1" spc="58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identify</a:t>
            </a:r>
            <a:r>
              <a:rPr lang="en-US" sz="2400" b="1" spc="63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key</a:t>
            </a:r>
            <a:r>
              <a:rPr lang="en-US" sz="2400" b="1" spc="59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business</a:t>
            </a:r>
            <a:r>
              <a:rPr lang="en-US" sz="2400" b="1" spc="54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insights</a:t>
            </a:r>
            <a:r>
              <a:rPr lang="en-US" sz="2400" b="1" spc="62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such</a:t>
            </a:r>
            <a:r>
              <a:rPr lang="en-US" sz="2400" b="1" spc="61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spc="-25" dirty="0">
                <a:latin typeface="Californian FB" panose="0207040306080B030204" pitchFamily="18" charset="0"/>
                <a:cs typeface="Calibri"/>
              </a:rPr>
              <a:t>as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top performing</a:t>
            </a:r>
            <a:r>
              <a:rPr lang="en-US" sz="2400" b="1" spc="89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products,</a:t>
            </a:r>
            <a:r>
              <a:rPr lang="en-US" sz="2400" b="1" spc="87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high value</a:t>
            </a:r>
            <a:r>
              <a:rPr lang="en-US" sz="2400" b="1" spc="82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customers,</a:t>
            </a:r>
            <a:r>
              <a:rPr lang="en-US" sz="2400" b="1" spc="850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and</a:t>
            </a:r>
            <a:r>
              <a:rPr lang="en-US" sz="2400" b="1" spc="83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revenue</a:t>
            </a:r>
            <a:r>
              <a:rPr lang="en-US" sz="2400" b="1" spc="869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patterns,</a:t>
            </a:r>
            <a:r>
              <a:rPr lang="en-US" sz="2400" b="1" spc="865" dirty="0">
                <a:latin typeface="Californian FB" panose="0207040306080B030204" pitchFamily="18" charset="0"/>
                <a:cs typeface="Calibri"/>
              </a:rPr>
              <a:t> </a:t>
            </a:r>
            <a:r>
              <a:rPr lang="en-US" sz="2400" b="1" spc="-20" dirty="0">
                <a:latin typeface="Californian FB" panose="0207040306080B030204" pitchFamily="18" charset="0"/>
                <a:cs typeface="Calibri"/>
              </a:rPr>
              <a:t>while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reinforcing</a:t>
            </a:r>
            <a:r>
              <a:rPr lang="en-US" sz="2400" b="1" spc="55" dirty="0">
                <a:latin typeface="Californian FB" panose="0207040306080B030204" pitchFamily="18" charset="0"/>
                <a:cs typeface="Calibri"/>
              </a:rPr>
              <a:t> 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practical</a:t>
            </a:r>
            <a:r>
              <a:rPr lang="en-US" sz="2400" b="1" spc="55" dirty="0">
                <a:latin typeface="Californian FB" panose="0207040306080B030204" pitchFamily="18" charset="0"/>
                <a:cs typeface="Calibri"/>
              </a:rPr>
              <a:t> 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SQL</a:t>
            </a:r>
            <a:r>
              <a:rPr lang="en-US" sz="2400" b="1" spc="55" dirty="0">
                <a:latin typeface="Californian FB" panose="0207040306080B030204" pitchFamily="18" charset="0"/>
                <a:cs typeface="Calibri"/>
              </a:rPr>
              <a:t> 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skills</a:t>
            </a:r>
            <a:r>
              <a:rPr lang="en-US" sz="2400" b="1" spc="60" dirty="0">
                <a:latin typeface="Californian FB" panose="0207040306080B030204" pitchFamily="18" charset="0"/>
                <a:cs typeface="Calibri"/>
              </a:rPr>
              <a:t> 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including</a:t>
            </a:r>
            <a:r>
              <a:rPr lang="en-US" sz="2400" b="1" spc="70" dirty="0">
                <a:latin typeface="Californian FB" panose="0207040306080B030204" pitchFamily="18" charset="0"/>
                <a:cs typeface="Calibri"/>
              </a:rPr>
              <a:t> 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joins,</a:t>
            </a:r>
            <a:r>
              <a:rPr lang="en-US" sz="2400" b="1" spc="50" dirty="0">
                <a:latin typeface="Californian FB" panose="0207040306080B030204" pitchFamily="18" charset="0"/>
                <a:cs typeface="Calibri"/>
              </a:rPr>
              <a:t> 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aggregations,</a:t>
            </a:r>
            <a:r>
              <a:rPr lang="en-US" sz="2400" b="1" spc="65" dirty="0">
                <a:latin typeface="Californian FB" panose="0207040306080B030204" pitchFamily="18" charset="0"/>
                <a:cs typeface="Calibri"/>
              </a:rPr>
              <a:t>  </a:t>
            </a:r>
            <a:r>
              <a:rPr lang="en-US" sz="2400" b="1" dirty="0">
                <a:latin typeface="Californian FB" panose="0207040306080B030204" pitchFamily="18" charset="0"/>
                <a:cs typeface="Calibri"/>
              </a:rPr>
              <a:t>subqueries,</a:t>
            </a:r>
            <a:r>
              <a:rPr lang="en-US" sz="2400" b="1" spc="80" dirty="0">
                <a:latin typeface="Californian FB" panose="0207040306080B030204" pitchFamily="18" charset="0"/>
                <a:cs typeface="Calibri"/>
              </a:rPr>
              <a:t>  </a:t>
            </a:r>
            <a:r>
              <a:rPr lang="en-US" sz="2400" b="1" spc="-25" dirty="0">
                <a:latin typeface="Californian FB" panose="0207040306080B030204" pitchFamily="18" charset="0"/>
                <a:cs typeface="Calibri"/>
              </a:rPr>
              <a:t>and </a:t>
            </a:r>
            <a:r>
              <a:rPr lang="en-US" sz="2400" b="1" spc="-10" dirty="0">
                <a:latin typeface="Californian FB" panose="0207040306080B030204" pitchFamily="18" charset="0"/>
                <a:cs typeface="Calibri"/>
              </a:rPr>
              <a:t>filtering.</a:t>
            </a:r>
            <a:endParaRPr lang="en-US" sz="2400" b="1" dirty="0">
              <a:latin typeface="Californian FB" panose="0207040306080B030204" pitchFamily="18" charset="0"/>
              <a:cs typeface="Calibri"/>
            </a:endParaRPr>
          </a:p>
        </p:txBody>
      </p:sp>
      <p:pic>
        <p:nvPicPr>
          <p:cNvPr id="4" name="Picture 3" descr="Innomatics Technology Hub in JNTU, Kukatpally, Hyderabad">
            <a:extLst>
              <a:ext uri="{FF2B5EF4-FFF2-40B4-BE49-F238E27FC236}">
                <a16:creationId xmlns:a16="http://schemas.microsoft.com/office/drawing/2014/main" id="{FC88F28F-F44F-D26C-3F2C-F94DCF7BC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74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FE83E677-EAF6-D1D3-5FEB-269DD359E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B4E293-75C0-EF78-6D46-2F35021C813A}"/>
              </a:ext>
            </a:extLst>
          </p:cNvPr>
          <p:cNvSpPr txBox="1"/>
          <p:nvPr/>
        </p:nvSpPr>
        <p:spPr>
          <a:xfrm>
            <a:off x="4398478" y="170487"/>
            <a:ext cx="2845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Californian FB" panose="0207040306080B030204" pitchFamily="18" charset="0"/>
              </a:rPr>
              <a:t>Analysis Questions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89FBE-FFB8-114E-3FDC-B232E0AEB0DD}"/>
              </a:ext>
            </a:extLst>
          </p:cNvPr>
          <p:cNvSpPr txBox="1"/>
          <p:nvPr/>
        </p:nvSpPr>
        <p:spPr>
          <a:xfrm>
            <a:off x="196010" y="1902019"/>
            <a:ext cx="6803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alifornian FB" panose="0207040306080B030204" pitchFamily="18" charset="0"/>
              </a:rPr>
              <a:t>1.How</a:t>
            </a:r>
            <a:r>
              <a:rPr lang="en-US" sz="2400" b="1" spc="-70" dirty="0">
                <a:latin typeface="Californian FB" panose="0207040306080B030204" pitchFamily="18" charset="0"/>
              </a:rPr>
              <a:t> </a:t>
            </a:r>
            <a:r>
              <a:rPr lang="en-US" sz="2400" b="1" dirty="0">
                <a:latin typeface="Californian FB" panose="0207040306080B030204" pitchFamily="18" charset="0"/>
              </a:rPr>
              <a:t>many</a:t>
            </a:r>
            <a:r>
              <a:rPr lang="en-US" sz="2400" b="1" spc="-25" dirty="0">
                <a:latin typeface="Californian FB" panose="0207040306080B030204" pitchFamily="18" charset="0"/>
              </a:rPr>
              <a:t> </a:t>
            </a:r>
            <a:r>
              <a:rPr lang="en-US" sz="2400" b="1" dirty="0">
                <a:latin typeface="Californian FB" panose="0207040306080B030204" pitchFamily="18" charset="0"/>
              </a:rPr>
              <a:t>unique</a:t>
            </a:r>
            <a:r>
              <a:rPr lang="en-US" sz="2400" b="1" spc="-30" dirty="0">
                <a:latin typeface="Californian FB" panose="0207040306080B030204" pitchFamily="18" charset="0"/>
              </a:rPr>
              <a:t> </a:t>
            </a:r>
            <a:r>
              <a:rPr lang="en-US" sz="2400" b="1" dirty="0">
                <a:latin typeface="Californian FB" panose="0207040306080B030204" pitchFamily="18" charset="0"/>
              </a:rPr>
              <a:t>customers</a:t>
            </a:r>
            <a:r>
              <a:rPr lang="en-US" sz="2400" b="1" spc="-20" dirty="0">
                <a:latin typeface="Californian FB" panose="0207040306080B030204" pitchFamily="18" charset="0"/>
              </a:rPr>
              <a:t> </a:t>
            </a:r>
            <a:r>
              <a:rPr lang="en-US" sz="2400" b="1" dirty="0">
                <a:latin typeface="Californian FB" panose="0207040306080B030204" pitchFamily="18" charset="0"/>
              </a:rPr>
              <a:t>have</a:t>
            </a:r>
            <a:r>
              <a:rPr lang="en-US" sz="2400" b="1" spc="-30" dirty="0">
                <a:latin typeface="Californian FB" panose="0207040306080B030204" pitchFamily="18" charset="0"/>
              </a:rPr>
              <a:t> </a:t>
            </a:r>
            <a:r>
              <a:rPr lang="en-US" sz="2400" b="1" dirty="0">
                <a:latin typeface="Californian FB" panose="0207040306080B030204" pitchFamily="18" charset="0"/>
              </a:rPr>
              <a:t>placed</a:t>
            </a:r>
            <a:r>
              <a:rPr lang="en-US" sz="2400" b="1" spc="-40" dirty="0">
                <a:latin typeface="Californian FB" panose="0207040306080B030204" pitchFamily="18" charset="0"/>
              </a:rPr>
              <a:t> </a:t>
            </a:r>
            <a:r>
              <a:rPr lang="en-US" sz="2400" b="1" spc="-10" dirty="0">
                <a:latin typeface="Californian FB" panose="0207040306080B030204" pitchFamily="18" charset="0"/>
              </a:rPr>
              <a:t>orders?</a:t>
            </a:r>
            <a:endParaRPr lang="en-IN" sz="2400" b="1" dirty="0">
              <a:latin typeface="Californian FB" panose="0207040306080B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5B5719-9EA8-A0C0-B44F-8B5D31473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97" y="2630407"/>
            <a:ext cx="6449413" cy="15097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4880DA-BA8A-DED5-C52A-715939AE7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418" y="3901417"/>
            <a:ext cx="3615430" cy="1010920"/>
          </a:xfrm>
          <a:prstGeom prst="rect">
            <a:avLst/>
          </a:prstGeom>
        </p:spPr>
      </p:pic>
      <p:pic>
        <p:nvPicPr>
          <p:cNvPr id="14" name="Picture 13" descr="People at supermarket. Consumers visiting grocery store, shopping. Buyers, customers with trolleys choosing, buying goods, food products on shelves. Shoppers at hypermarket. Flat vector illustration">
            <a:extLst>
              <a:ext uri="{FF2B5EF4-FFF2-40B4-BE49-F238E27FC236}">
                <a16:creationId xmlns:a16="http://schemas.microsoft.com/office/drawing/2014/main" id="{2EF9FFC0-EDC9-BC93-F0C2-BB850F549BE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673600"/>
            <a:ext cx="12192000" cy="2085032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3790D298-B263-187E-9574-4F047A1EDC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0FC5ED-EC62-16B2-46C9-669C577BB19C}"/>
              </a:ext>
            </a:extLst>
          </p:cNvPr>
          <p:cNvSpPr txBox="1"/>
          <p:nvPr/>
        </p:nvSpPr>
        <p:spPr>
          <a:xfrm>
            <a:off x="4308710" y="802640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latin typeface="Californian FB" panose="0207040306080B030204" pitchFamily="18" charset="0"/>
              </a:rPr>
              <a:t>Customer Insights</a:t>
            </a:r>
          </a:p>
        </p:txBody>
      </p:sp>
    </p:spTree>
    <p:extLst>
      <p:ext uri="{BB962C8B-B14F-4D97-AF65-F5344CB8AC3E}">
        <p14:creationId xmlns:p14="http://schemas.microsoft.com/office/powerpoint/2010/main" val="1279782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5308C-E4F6-BE46-F55E-5E7805C2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086B1E83-2249-989C-EE56-AFD69D422F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3D2508-E0AB-E866-BC23-B1F22850986F}"/>
              </a:ext>
            </a:extLst>
          </p:cNvPr>
          <p:cNvSpPr txBox="1"/>
          <p:nvPr/>
        </p:nvSpPr>
        <p:spPr>
          <a:xfrm>
            <a:off x="393975" y="1391920"/>
            <a:ext cx="9734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alifornian FB" panose="0207040306080B030204" pitchFamily="18" charset="0"/>
              </a:rPr>
              <a:t>2.Which</a:t>
            </a:r>
            <a:r>
              <a:rPr lang="en-US" sz="2800" b="1" spc="4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customers</a:t>
            </a:r>
            <a:r>
              <a:rPr lang="en-US" sz="2800" b="1" spc="4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have</a:t>
            </a:r>
            <a:r>
              <a:rPr lang="en-US" sz="2800" b="1" spc="5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placed</a:t>
            </a:r>
            <a:r>
              <a:rPr lang="en-US" sz="2800" b="1" spc="5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the</a:t>
            </a:r>
            <a:r>
              <a:rPr lang="en-US" sz="2800" b="1" spc="5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highest</a:t>
            </a:r>
            <a:r>
              <a:rPr lang="en-US" sz="2800" b="1" spc="35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number</a:t>
            </a:r>
            <a:r>
              <a:rPr lang="en-US" sz="2800" b="1" spc="-3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of</a:t>
            </a:r>
            <a:r>
              <a:rPr lang="en-US" sz="2800" b="1" spc="40" dirty="0">
                <a:latin typeface="Californian FB" panose="0207040306080B030204" pitchFamily="18" charset="0"/>
              </a:rPr>
              <a:t> </a:t>
            </a:r>
            <a:r>
              <a:rPr lang="en-US" sz="2800" b="1" spc="-10" dirty="0">
                <a:latin typeface="Californian FB" panose="0207040306080B030204" pitchFamily="18" charset="0"/>
              </a:rPr>
              <a:t>orders?</a:t>
            </a:r>
            <a:endParaRPr lang="en-IN" sz="28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C4D04D-BB04-EB4C-879E-8B1DAE316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" y="2219345"/>
            <a:ext cx="5269404" cy="3907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B5BBD7-A736-D189-AB64-3361BE171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822" y="3921760"/>
            <a:ext cx="4138537" cy="1544320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C5CE2AC8-075C-F0A3-3B4D-34A190571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2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563BA-310D-7A2A-837E-E2583C369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7AE56DC4-F699-A4C9-9162-3371BB2A54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B15F1-8DAD-29B2-BB9D-10E4DA9B722C}"/>
              </a:ext>
            </a:extLst>
          </p:cNvPr>
          <p:cNvSpPr txBox="1"/>
          <p:nvPr/>
        </p:nvSpPr>
        <p:spPr>
          <a:xfrm>
            <a:off x="489354" y="1391920"/>
            <a:ext cx="9543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alifornian FB" panose="0207040306080B030204" pitchFamily="18" charset="0"/>
              </a:rPr>
              <a:t>3.What</a:t>
            </a:r>
            <a:r>
              <a:rPr lang="en-US" sz="2800" b="1" spc="15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is</a:t>
            </a:r>
            <a:r>
              <a:rPr lang="en-US" sz="2800" b="1" spc="25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the</a:t>
            </a:r>
            <a:r>
              <a:rPr lang="en-US" sz="2800" b="1" spc="25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total</a:t>
            </a:r>
            <a:r>
              <a:rPr lang="en-US" sz="2800" b="1" spc="9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and</a:t>
            </a:r>
            <a:r>
              <a:rPr lang="en-US" sz="2800" b="1" spc="3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average</a:t>
            </a:r>
            <a:r>
              <a:rPr lang="en-US" sz="2800" b="1" spc="3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purchase</a:t>
            </a:r>
            <a:r>
              <a:rPr lang="en-US" sz="2800" b="1" spc="25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value</a:t>
            </a:r>
            <a:r>
              <a:rPr lang="en-US" sz="2800" b="1" spc="3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per</a:t>
            </a:r>
            <a:r>
              <a:rPr lang="en-US" sz="2800" b="1" spc="-50" dirty="0">
                <a:latin typeface="Californian FB" panose="0207040306080B030204" pitchFamily="18" charset="0"/>
              </a:rPr>
              <a:t> </a:t>
            </a:r>
            <a:r>
              <a:rPr lang="en-US" sz="2800" b="1" spc="-10" dirty="0">
                <a:latin typeface="Californian FB" panose="0207040306080B030204" pitchFamily="18" charset="0"/>
              </a:rPr>
              <a:t>customer?</a:t>
            </a:r>
            <a:endParaRPr lang="en-IN" sz="2800" b="1" dirty="0">
              <a:latin typeface="Californian FB" panose="0207040306080B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035026-4C07-20A5-A34F-7A62BD459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32" y="2219345"/>
            <a:ext cx="4869190" cy="41120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2AE854-6AA7-E4D7-7B7E-B703E9F75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479" y="2580639"/>
            <a:ext cx="4425493" cy="3530793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8A89864A-7AEA-545A-E312-345F2387C3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45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A7F35-E8E6-45B8-EA2E-66611668C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9A0C2E5D-4E6C-1FA7-0614-AD2E5B4622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039F3C-505B-04F9-0B6D-02EAA5671FAC}"/>
              </a:ext>
            </a:extLst>
          </p:cNvPr>
          <p:cNvSpPr txBox="1"/>
          <p:nvPr/>
        </p:nvSpPr>
        <p:spPr>
          <a:xfrm>
            <a:off x="802640" y="741680"/>
            <a:ext cx="1054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4. Who</a:t>
            </a:r>
            <a:r>
              <a:rPr lang="en-US" sz="3200" b="1" spc="1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are</a:t>
            </a:r>
            <a:r>
              <a:rPr lang="en-US" sz="3200" b="1" spc="2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the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top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5</a:t>
            </a:r>
            <a:r>
              <a:rPr lang="en-US" sz="3200" b="1" spc="2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customers</a:t>
            </a:r>
            <a:r>
              <a:rPr lang="en-US" sz="3200" b="1" spc="2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by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total</a:t>
            </a:r>
            <a:r>
              <a:rPr lang="en-US" sz="3200" b="1" spc="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purchase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spc="-10" dirty="0">
                <a:latin typeface="Californian FB" panose="0207040306080B030204" pitchFamily="18" charset="0"/>
              </a:rPr>
              <a:t>amount?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9E44B-BC8C-DD04-6BEB-BD6934938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588" y="1775348"/>
            <a:ext cx="4760092" cy="4340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269C1C-0EE3-764E-FCE5-62B3845C2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18" y="2887932"/>
            <a:ext cx="4179794" cy="2700068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2E7EA590-E7A4-D537-A7EE-BEE8236B1F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76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0929F2-B309-5D73-550B-A0D3CDAB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78E196BA-F8A6-654C-AA88-61FADA5AAE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51E78C-DDF1-BE41-2444-A3122153E45A}"/>
              </a:ext>
            </a:extLst>
          </p:cNvPr>
          <p:cNvSpPr txBox="1"/>
          <p:nvPr/>
        </p:nvSpPr>
        <p:spPr>
          <a:xfrm>
            <a:off x="4671904" y="365760"/>
            <a:ext cx="3462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latin typeface="Californian FB" panose="0207040306080B030204" pitchFamily="18" charset="0"/>
              </a:rPr>
              <a:t>Product Performance</a:t>
            </a:r>
            <a:endParaRPr lang="en-IN" sz="2800" b="1" u="sng" dirty="0">
              <a:latin typeface="Californian FB" panose="0207040306080B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9EB4C-B908-F5F7-1135-5FA088FCAEDF}"/>
              </a:ext>
            </a:extLst>
          </p:cNvPr>
          <p:cNvSpPr txBox="1"/>
          <p:nvPr/>
        </p:nvSpPr>
        <p:spPr>
          <a:xfrm>
            <a:off x="1686958" y="1391920"/>
            <a:ext cx="7148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alifornian FB" panose="0207040306080B030204" pitchFamily="18" charset="0"/>
              </a:rPr>
              <a:t>1. How</a:t>
            </a:r>
            <a:r>
              <a:rPr lang="en-US" sz="2800" b="1" spc="35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many</a:t>
            </a:r>
            <a:r>
              <a:rPr lang="en-US" sz="2800" b="1" spc="25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products</a:t>
            </a:r>
            <a:r>
              <a:rPr lang="en-US" sz="2800" b="1" spc="25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exist</a:t>
            </a:r>
            <a:r>
              <a:rPr lang="en-US" sz="2800" b="1" spc="15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in</a:t>
            </a:r>
            <a:r>
              <a:rPr lang="en-US" sz="2800" b="1" spc="30" dirty="0">
                <a:latin typeface="Californian FB" panose="0207040306080B030204" pitchFamily="18" charset="0"/>
              </a:rPr>
              <a:t> </a:t>
            </a:r>
            <a:r>
              <a:rPr lang="en-US" sz="2800" b="1" dirty="0">
                <a:latin typeface="Californian FB" panose="0207040306080B030204" pitchFamily="18" charset="0"/>
              </a:rPr>
              <a:t>each</a:t>
            </a:r>
            <a:r>
              <a:rPr lang="en-US" sz="2800" b="1" spc="25" dirty="0">
                <a:latin typeface="Californian FB" panose="0207040306080B030204" pitchFamily="18" charset="0"/>
              </a:rPr>
              <a:t> </a:t>
            </a:r>
            <a:r>
              <a:rPr lang="en-US" sz="2800" b="1" spc="-10" dirty="0">
                <a:latin typeface="Californian FB" panose="0207040306080B030204" pitchFamily="18" charset="0"/>
              </a:rPr>
              <a:t>category?</a:t>
            </a:r>
            <a:endParaRPr lang="en-IN" sz="28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1AA70-63C7-FC64-7703-B4FEDD613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2280899"/>
            <a:ext cx="4888375" cy="4038877"/>
          </a:xfrm>
          <a:prstGeom prst="rect">
            <a:avLst/>
          </a:prstGeom>
        </p:spPr>
      </p:pic>
      <p:pic>
        <p:nvPicPr>
          <p:cNvPr id="7" name="Picture 6" descr="Innomatics Technology Hub in JNTU, Kukatpally, Hyderabad">
            <a:extLst>
              <a:ext uri="{FF2B5EF4-FFF2-40B4-BE49-F238E27FC236}">
                <a16:creationId xmlns:a16="http://schemas.microsoft.com/office/drawing/2014/main" id="{DC831B44-AEAD-020F-E664-7644ED848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48F6A0-B4EC-EE07-4A8B-06EE49993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0168" y="3004390"/>
            <a:ext cx="3651179" cy="246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19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1D793-49F2-5411-C463-14F33262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76680837-B866-8109-AF00-3A78B38BC7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090ED8-7291-CF95-A5D9-CC5FD79B5724}"/>
              </a:ext>
            </a:extLst>
          </p:cNvPr>
          <p:cNvSpPr txBox="1"/>
          <p:nvPr/>
        </p:nvSpPr>
        <p:spPr>
          <a:xfrm>
            <a:off x="802640" y="741680"/>
            <a:ext cx="1054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2. What</a:t>
            </a:r>
            <a:r>
              <a:rPr lang="en-US" sz="3200" b="1" spc="1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is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the</a:t>
            </a:r>
            <a:r>
              <a:rPr lang="en-US" sz="3200" b="1" spc="3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average</a:t>
            </a:r>
            <a:r>
              <a:rPr lang="en-US" sz="3200" b="1" spc="3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price</a:t>
            </a:r>
            <a:r>
              <a:rPr lang="en-US" sz="3200" b="1" spc="3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of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products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by</a:t>
            </a:r>
            <a:r>
              <a:rPr lang="en-US" sz="3200" b="1" spc="30" dirty="0">
                <a:latin typeface="Californian FB" panose="0207040306080B030204" pitchFamily="18" charset="0"/>
              </a:rPr>
              <a:t> </a:t>
            </a:r>
            <a:r>
              <a:rPr lang="en-US" sz="3200" b="1" spc="-10" dirty="0">
                <a:latin typeface="Californian FB" panose="0207040306080B030204" pitchFamily="18" charset="0"/>
              </a:rPr>
              <a:t>category?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FAF21-4666-7FDF-2BB7-CAD5584AB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833" y="2783151"/>
            <a:ext cx="4114798" cy="24981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083B82-32FF-4D05-0FB2-FF6111F72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1948118"/>
            <a:ext cx="4917440" cy="4168202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D84178D7-7908-B113-9FBB-8D6C038F5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92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36629-99DC-6343-DC1C-19C7416A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EE582F7E-9DD3-6298-D6C4-EB983A9A42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706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F6CA3C-A897-FA24-23F6-5DD4EF135A7B}"/>
              </a:ext>
            </a:extLst>
          </p:cNvPr>
          <p:cNvSpPr txBox="1"/>
          <p:nvPr/>
        </p:nvSpPr>
        <p:spPr>
          <a:xfrm>
            <a:off x="802640" y="741680"/>
            <a:ext cx="10546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3. Which products have the highest total sales volume (by quantity)?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7B55E2-8105-291F-1178-D52436161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488" y="2169088"/>
            <a:ext cx="5589432" cy="42113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F050A9-66DC-48F9-51D8-DAA573296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408" y="2712648"/>
            <a:ext cx="3828144" cy="3124272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6CFC2927-0373-AA86-05A7-E525A5360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32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C2B6A-9CD9-2207-BA0C-8438420B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08857347-8C21-3062-04AF-B4F71296CE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212BA5-D035-B5D8-C137-37A56001F099}"/>
              </a:ext>
            </a:extLst>
          </p:cNvPr>
          <p:cNvSpPr txBox="1"/>
          <p:nvPr/>
        </p:nvSpPr>
        <p:spPr>
          <a:xfrm>
            <a:off x="802640" y="741680"/>
            <a:ext cx="1054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 4. What is the total revenue generated by each product?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3F5273-078F-1E10-20EE-9A731B10E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1" y="2068135"/>
            <a:ext cx="5318759" cy="4261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989B98-62F6-71BD-AF98-0A0638387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7990" y="2745856"/>
            <a:ext cx="3567545" cy="2988656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01B821FC-31BD-960D-E001-89CF9AF203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14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87751-9407-047D-37A3-F32086BD7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83D65AD7-DE73-D80D-BB7B-D98F8B0348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409925-B18C-FE64-977A-8A862DEA0263}"/>
              </a:ext>
            </a:extLst>
          </p:cNvPr>
          <p:cNvSpPr txBox="1"/>
          <p:nvPr/>
        </p:nvSpPr>
        <p:spPr>
          <a:xfrm>
            <a:off x="802640" y="741680"/>
            <a:ext cx="1054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5. How do product sales vary by category and supplier?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7B07E-24C9-9B5B-D5AD-0A40B9BBC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30" y="1795647"/>
            <a:ext cx="4581030" cy="43206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983B22-9BDE-187C-2893-057D47016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360" y="2274460"/>
            <a:ext cx="4409440" cy="3363046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0B6A6CD4-26C0-27F1-DA4B-0531E57E26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06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B1101-BF03-C733-D8C8-F37894BA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224C4968-83E8-6BFD-D040-0DAF3941DD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F8B79D-C428-7549-B7D8-576D70794D0F}"/>
              </a:ext>
            </a:extLst>
          </p:cNvPr>
          <p:cNvSpPr txBox="1"/>
          <p:nvPr/>
        </p:nvSpPr>
        <p:spPr>
          <a:xfrm>
            <a:off x="3078480" y="484257"/>
            <a:ext cx="6177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latin typeface="Californian FB" panose="0207040306080B030204" pitchFamily="18" charset="0"/>
              </a:rPr>
              <a:t>Sales and Order Trends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BF966-1361-0FE8-874C-D14F41A057B2}"/>
              </a:ext>
            </a:extLst>
          </p:cNvPr>
          <p:cNvSpPr txBox="1"/>
          <p:nvPr/>
        </p:nvSpPr>
        <p:spPr>
          <a:xfrm>
            <a:off x="325120" y="1069032"/>
            <a:ext cx="1168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>
                <a:latin typeface="Californian FB" panose="0207040306080B030204" pitchFamily="18" charset="0"/>
              </a:rPr>
              <a:t>Analyze business performance through orders and revenue over time.</a:t>
            </a:r>
          </a:p>
          <a:p>
            <a:pPr algn="ctr"/>
            <a:r>
              <a:rPr lang="en-US" sz="2800" b="1" dirty="0">
                <a:latin typeface="Californian FB" panose="0207040306080B030204" pitchFamily="18" charset="0"/>
              </a:rPr>
              <a:t>How many orders have been placed in total?</a:t>
            </a:r>
            <a:endParaRPr lang="en-IN" sz="2800" b="1" dirty="0">
              <a:latin typeface="Californian FB" panose="0207040306080B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5B887C-6E16-7C53-6ADA-C17ADAD5C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47" y="2230344"/>
            <a:ext cx="4944266" cy="3784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EAC482-A9B6-86EB-E370-3218EA7CE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389" y="3429000"/>
            <a:ext cx="3810000" cy="1368069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F3F196E5-44E6-60C0-10F2-E2473663A0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51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7A30B-62BB-677D-C569-492017EE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098C921A-AB03-D4EE-40DA-3422344639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B49996-9DCF-DF6E-DF5F-A4301003A29B}"/>
              </a:ext>
            </a:extLst>
          </p:cNvPr>
          <p:cNvSpPr txBox="1"/>
          <p:nvPr/>
        </p:nvSpPr>
        <p:spPr>
          <a:xfrm>
            <a:off x="802640" y="741680"/>
            <a:ext cx="1054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2.  How many orders have been placed in total?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5708A3-5ED1-FA9A-2279-BFDF8FDBD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35" y="2045367"/>
            <a:ext cx="5651856" cy="39618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21A240-908B-00E1-C7DE-1042091D0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146" y="3214658"/>
            <a:ext cx="3769999" cy="2093253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446A8D76-A5AB-2A51-7507-7C47A5EED1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71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FEA30-F6D6-88D7-E908-E5C285782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AC63DB7E-205A-5D01-6B69-A60757CCB4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F1E6FD-7BF0-34E4-DC54-1B5EB9809512}"/>
              </a:ext>
            </a:extLst>
          </p:cNvPr>
          <p:cNvSpPr txBox="1"/>
          <p:nvPr/>
        </p:nvSpPr>
        <p:spPr>
          <a:xfrm>
            <a:off x="802640" y="741680"/>
            <a:ext cx="1054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3.  What is the average value per order?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FD66E-98A3-1BB6-C32B-4408E10F5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48" y="1880198"/>
            <a:ext cx="5166395" cy="4358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462EE5-0E70-7E37-DCC8-1795FAF0E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22" y="3160146"/>
            <a:ext cx="4804463" cy="1798659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AA312EB0-3B58-7CF5-C609-657A8E12C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79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A2062-C026-0B11-CEFE-2B425E27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969098FD-078B-593C-0E34-2365683F2E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4F46F3-9186-8223-0F6B-1A3BE18E89E8}"/>
              </a:ext>
            </a:extLst>
          </p:cNvPr>
          <p:cNvSpPr txBox="1"/>
          <p:nvPr/>
        </p:nvSpPr>
        <p:spPr>
          <a:xfrm>
            <a:off x="802640" y="741680"/>
            <a:ext cx="1054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4. On which dates were the most orders placed?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52B7D1-D19D-F1B8-CF6D-B49B8B7D7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20" y="1703000"/>
            <a:ext cx="7200000" cy="4413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633F9C-4AB3-4B50-0981-6568CC69F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839" y="2842603"/>
            <a:ext cx="4016841" cy="2499248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9ABC463A-3ED2-DF84-D607-3C3D7BBCE2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71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690FF-67E5-0975-814D-AA0CA0A5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BC31ECEE-AD14-DBFA-FE2B-9074F41238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89D1A3-55B4-5750-3A95-2EE6370EB749}"/>
              </a:ext>
            </a:extLst>
          </p:cNvPr>
          <p:cNvSpPr txBox="1"/>
          <p:nvPr/>
        </p:nvSpPr>
        <p:spPr>
          <a:xfrm>
            <a:off x="822960" y="410571"/>
            <a:ext cx="10546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5. What are the monthly trends in order volume and revenue? 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25DAD-4146-1771-A6B0-A922B7495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89" y="1782984"/>
            <a:ext cx="6721422" cy="44326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8F4ACE-CB7E-7FED-72F3-CE588F236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076" y="2322970"/>
            <a:ext cx="3361964" cy="3121752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1328050D-1399-5F35-C56F-92FEE79673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18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E9F228-9E84-8525-BF31-A99C9EFD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E9B992D6-8968-279A-CDF1-5C12DD88C9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F70631-3521-6F7F-24AB-2F2E11F9376F}"/>
              </a:ext>
            </a:extLst>
          </p:cNvPr>
          <p:cNvSpPr txBox="1"/>
          <p:nvPr/>
        </p:nvSpPr>
        <p:spPr>
          <a:xfrm>
            <a:off x="3078480" y="484257"/>
            <a:ext cx="6177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latin typeface="Californian FB" panose="0207040306080B030204" pitchFamily="18" charset="0"/>
              </a:rPr>
              <a:t>Supplier Contribution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52C57-8187-9713-D163-BCC9CC1FF97F}"/>
              </a:ext>
            </a:extLst>
          </p:cNvPr>
          <p:cNvSpPr txBox="1"/>
          <p:nvPr/>
        </p:nvSpPr>
        <p:spPr>
          <a:xfrm>
            <a:off x="1910080" y="1094676"/>
            <a:ext cx="1168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fornian FB" panose="0207040306080B030204" pitchFamily="18" charset="0"/>
              </a:rPr>
              <a:t>1.How</a:t>
            </a:r>
            <a:r>
              <a:rPr lang="en-US" sz="3200" b="1" spc="1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many suppliers</a:t>
            </a:r>
            <a:r>
              <a:rPr lang="en-US" sz="3200" b="1" spc="7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are</a:t>
            </a:r>
            <a:r>
              <a:rPr lang="en-US" sz="3200" b="1" spc="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there</a:t>
            </a:r>
            <a:r>
              <a:rPr lang="en-US" sz="3200" b="1" spc="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in the</a:t>
            </a:r>
            <a:r>
              <a:rPr lang="en-US" sz="3200" b="1" spc="5" dirty="0">
                <a:latin typeface="Californian FB" panose="0207040306080B030204" pitchFamily="18" charset="0"/>
              </a:rPr>
              <a:t> </a:t>
            </a:r>
            <a:r>
              <a:rPr lang="en-US" sz="3200" b="1" spc="-10" dirty="0">
                <a:latin typeface="Californian FB" panose="0207040306080B030204" pitchFamily="18" charset="0"/>
              </a:rPr>
              <a:t>database?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C857B6-E673-08DC-794C-54813C9E7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541" y="2404524"/>
            <a:ext cx="4414659" cy="2756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7235BF-330B-DA8F-C424-A07B82572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721" y="2918268"/>
            <a:ext cx="2687320" cy="1613091"/>
          </a:xfrm>
          <a:prstGeom prst="rect">
            <a:avLst/>
          </a:prstGeom>
        </p:spPr>
      </p:pic>
      <p:pic>
        <p:nvPicPr>
          <p:cNvPr id="7" name="Picture 6" descr="Innomatics Technology Hub in JNTU, Kukatpally, Hyderabad">
            <a:extLst>
              <a:ext uri="{FF2B5EF4-FFF2-40B4-BE49-F238E27FC236}">
                <a16:creationId xmlns:a16="http://schemas.microsoft.com/office/drawing/2014/main" id="{04DE3DE9-B9E2-094E-F1B0-62476AA0B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79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A489F-C4DD-1BFC-15EC-BA8C6B66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3F081822-8988-5C83-71C0-724055D2EF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10E8A6-7719-316D-9DAB-6FB3A0DD677C}"/>
              </a:ext>
            </a:extLst>
          </p:cNvPr>
          <p:cNvSpPr txBox="1"/>
          <p:nvPr/>
        </p:nvSpPr>
        <p:spPr>
          <a:xfrm>
            <a:off x="822960" y="410571"/>
            <a:ext cx="1054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2.Which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supplier</a:t>
            </a:r>
            <a:r>
              <a:rPr lang="en-US" sz="3200" b="1" spc="-4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provides</a:t>
            </a:r>
            <a:r>
              <a:rPr lang="en-US" sz="3200" b="1" spc="3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the</a:t>
            </a:r>
            <a:r>
              <a:rPr lang="en-US" sz="3200" b="1" spc="4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most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spc="-10" dirty="0">
                <a:latin typeface="Californian FB" panose="0207040306080B030204" pitchFamily="18" charset="0"/>
              </a:rPr>
              <a:t>products?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229F8C-FA74-D0DB-A798-717C38E4E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20" y="1564640"/>
            <a:ext cx="5283199" cy="3647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6BBE6C-1CE0-BE24-741A-891F96AEB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840" y="2796417"/>
            <a:ext cx="3129280" cy="1673983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D42C1E00-F21D-C9FB-750A-6A6E9D88A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5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F99EB-A4AF-BC3E-120B-3C8B718F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70A11CF1-616F-EDA1-DFDA-63A77A4D51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A56168-5F22-4DCA-69B4-585685968D02}"/>
              </a:ext>
            </a:extLst>
          </p:cNvPr>
          <p:cNvSpPr txBox="1"/>
          <p:nvPr/>
        </p:nvSpPr>
        <p:spPr>
          <a:xfrm>
            <a:off x="822960" y="410571"/>
            <a:ext cx="10546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3.What</a:t>
            </a:r>
            <a:r>
              <a:rPr lang="en-US" sz="3200" b="1" spc="8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is</a:t>
            </a:r>
            <a:r>
              <a:rPr lang="en-US" sz="3200" b="1" spc="8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the</a:t>
            </a:r>
            <a:r>
              <a:rPr lang="en-US" sz="3200" b="1" spc="2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average</a:t>
            </a:r>
            <a:r>
              <a:rPr lang="en-US" sz="3200" b="1" spc="2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price</a:t>
            </a:r>
            <a:r>
              <a:rPr lang="en-US" sz="3200" b="1" spc="2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of</a:t>
            </a:r>
            <a:r>
              <a:rPr lang="en-US" sz="3200" b="1" spc="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products</a:t>
            </a:r>
            <a:r>
              <a:rPr lang="en-US" sz="3200" b="1" spc="10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from</a:t>
            </a:r>
            <a:r>
              <a:rPr lang="en-US" sz="3200" b="1" spc="45" dirty="0">
                <a:latin typeface="Californian FB" panose="0207040306080B030204" pitchFamily="18" charset="0"/>
              </a:rPr>
              <a:t> </a:t>
            </a:r>
            <a:r>
              <a:rPr lang="en-US" sz="3200" b="1" dirty="0">
                <a:latin typeface="Californian FB" panose="0207040306080B030204" pitchFamily="18" charset="0"/>
              </a:rPr>
              <a:t>each</a:t>
            </a:r>
            <a:r>
              <a:rPr lang="en-US" sz="3200" b="1" spc="20" dirty="0">
                <a:latin typeface="Californian FB" panose="0207040306080B030204" pitchFamily="18" charset="0"/>
              </a:rPr>
              <a:t> </a:t>
            </a:r>
            <a:r>
              <a:rPr lang="en-US" sz="3200" b="1" spc="-10" dirty="0">
                <a:latin typeface="Californian FB" panose="0207040306080B030204" pitchFamily="18" charset="0"/>
              </a:rPr>
              <a:t>supplier?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8ECBB-9BE1-78E8-7E7D-9A79EC036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856" y="1946619"/>
            <a:ext cx="4127626" cy="33315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1F0A0D-1BA9-4B8C-88DE-6C9A833D7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655" y="2384688"/>
            <a:ext cx="3371916" cy="2308903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3C9A2F52-E35E-7145-D92B-96880C68DE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01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45CDA-A556-3F4A-502A-BE1463AD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10022CFB-4C63-8DA3-A234-5952916DA7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9EB612-48ED-015E-8328-C4EC0882D3B5}"/>
              </a:ext>
            </a:extLst>
          </p:cNvPr>
          <p:cNvSpPr txBox="1"/>
          <p:nvPr/>
        </p:nvSpPr>
        <p:spPr>
          <a:xfrm>
            <a:off x="3078480" y="484257"/>
            <a:ext cx="6177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latin typeface="Californian FB" panose="0207040306080B030204" pitchFamily="18" charset="0"/>
              </a:rPr>
              <a:t>Employee Performance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5D5FC-0462-E0C3-84DB-2FF57A3F8605}"/>
              </a:ext>
            </a:extLst>
          </p:cNvPr>
          <p:cNvSpPr txBox="1"/>
          <p:nvPr/>
        </p:nvSpPr>
        <p:spPr>
          <a:xfrm>
            <a:off x="1910080" y="1094676"/>
            <a:ext cx="1168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fornian FB" panose="0207040306080B030204" pitchFamily="18" charset="0"/>
              </a:rPr>
              <a:t>1.How many employees have processed orders?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0AE7B2-8130-C2A7-053A-E93DAC9E6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0" y="1971487"/>
            <a:ext cx="4771564" cy="3230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AC61DF-6450-D62C-48C1-6F4A223B9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120" y="2903885"/>
            <a:ext cx="3228407" cy="1508843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6AED7E22-A6B7-EFC6-90BC-5D78EB95DF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78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B64EE-0072-DA40-5579-141E375E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4A00B19B-C12F-AAE7-D2BC-D980EC1D44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795536-1F54-10F2-6473-665B2A7900D6}"/>
              </a:ext>
            </a:extLst>
          </p:cNvPr>
          <p:cNvSpPr txBox="1"/>
          <p:nvPr/>
        </p:nvSpPr>
        <p:spPr>
          <a:xfrm>
            <a:off x="1910080" y="1094676"/>
            <a:ext cx="1168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fornian FB" panose="0207040306080B030204" pitchFamily="18" charset="0"/>
              </a:rPr>
              <a:t>2.Which employees have handled the most orders? 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E3450-6D67-2F3A-FEF3-2B4302022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703" y="2335423"/>
            <a:ext cx="4604986" cy="4033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FED34F-2DC5-A733-D506-2DB694AF1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392" y="2645914"/>
            <a:ext cx="3322320" cy="3412798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F4107091-3E57-E615-3045-CA1043252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47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9220A-E8EB-238F-D4BF-8A1F61216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3280B05B-36C4-ED72-D513-AB84150F40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F2A7B0-1ADE-1AB4-2669-EE814F71520D}"/>
              </a:ext>
            </a:extLst>
          </p:cNvPr>
          <p:cNvSpPr txBox="1"/>
          <p:nvPr/>
        </p:nvSpPr>
        <p:spPr>
          <a:xfrm>
            <a:off x="822960" y="698436"/>
            <a:ext cx="1168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fornian FB" panose="0207040306080B030204" pitchFamily="18" charset="0"/>
              </a:rPr>
              <a:t>3.What is the total sales value processed by each employee? 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7806D-EF72-5790-50C7-F3D447C44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1614854"/>
            <a:ext cx="4947919" cy="4947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A7BBB9-2C45-151E-CDAB-270E284B0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264508"/>
            <a:ext cx="2583232" cy="3648612"/>
          </a:xfrm>
          <a:prstGeom prst="rect">
            <a:avLst/>
          </a:prstGeom>
        </p:spPr>
      </p:pic>
      <p:pic>
        <p:nvPicPr>
          <p:cNvPr id="5" name="Picture 4" descr="Innomatics Technology Hub in JNTU, Kukatpally, Hyderabad">
            <a:extLst>
              <a:ext uri="{FF2B5EF4-FFF2-40B4-BE49-F238E27FC236}">
                <a16:creationId xmlns:a16="http://schemas.microsoft.com/office/drawing/2014/main" id="{F87372FC-B2D4-C1CA-1DB7-E935B84CF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01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5F92A-7292-921F-06CA-11A415059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14C36489-3578-E9F2-50D8-8C9EA9A60F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FDE994-B3B3-1395-91A2-EAEC07982BD2}"/>
              </a:ext>
            </a:extLst>
          </p:cNvPr>
          <p:cNvSpPr txBox="1"/>
          <p:nvPr/>
        </p:nvSpPr>
        <p:spPr>
          <a:xfrm>
            <a:off x="3078480" y="484257"/>
            <a:ext cx="6177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latin typeface="Californian FB" panose="0207040306080B030204" pitchFamily="18" charset="0"/>
              </a:rPr>
              <a:t>Order Details Deep Dive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330F5-76F0-C4D0-F9B8-D7765A70F4F4}"/>
              </a:ext>
            </a:extLst>
          </p:cNvPr>
          <p:cNvSpPr txBox="1"/>
          <p:nvPr/>
        </p:nvSpPr>
        <p:spPr>
          <a:xfrm>
            <a:off x="508000" y="1028383"/>
            <a:ext cx="1168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Californian FB" panose="0207040306080B030204" pitchFamily="18" charset="0"/>
              </a:rPr>
              <a:t>1. What is the relationship between quantity ordered and total price?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61CA1-E564-091F-89AA-D7288118D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75" y="2177840"/>
            <a:ext cx="4394405" cy="352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435061-F6C7-C19F-FE3A-F68630D01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522" y="2649727"/>
            <a:ext cx="4267290" cy="2944504"/>
          </a:xfrm>
          <a:prstGeom prst="rect">
            <a:avLst/>
          </a:prstGeom>
        </p:spPr>
      </p:pic>
      <p:pic>
        <p:nvPicPr>
          <p:cNvPr id="7" name="Picture 6" descr="Innomatics Technology Hub in JNTU, Kukatpally, Hyderabad">
            <a:extLst>
              <a:ext uri="{FF2B5EF4-FFF2-40B4-BE49-F238E27FC236}">
                <a16:creationId xmlns:a16="http://schemas.microsoft.com/office/drawing/2014/main" id="{29C9809D-ED18-F225-2347-B8471A4C0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59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97727-2043-2608-9301-6AF276F2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3C3C4C83-E03F-8C34-E306-72ED296EA3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0E713C-9981-513B-15EA-49475441933C}"/>
              </a:ext>
            </a:extLst>
          </p:cNvPr>
          <p:cNvSpPr txBox="1"/>
          <p:nvPr/>
        </p:nvSpPr>
        <p:spPr>
          <a:xfrm>
            <a:off x="822960" y="698436"/>
            <a:ext cx="1168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fornian FB" panose="0207040306080B030204" pitchFamily="18" charset="0"/>
              </a:rPr>
              <a:t>2. What is the average quantity ordered per product? 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6DED9-C865-B831-896D-503D4A7BB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08479"/>
            <a:ext cx="5193376" cy="45611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DCB3D8-A344-2731-BC3B-73952EBEA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016" y="2097301"/>
            <a:ext cx="3098800" cy="4150406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AECA5197-2125-0CF6-EF7F-40E75EC57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57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ED009-238B-F595-50B8-EB8F0F05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610BB4CC-E0EF-E5B5-8F30-BA809CD702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0F30EE-C18C-43A1-E325-BACCFFDDE4FA}"/>
              </a:ext>
            </a:extLst>
          </p:cNvPr>
          <p:cNvSpPr txBox="1"/>
          <p:nvPr/>
        </p:nvSpPr>
        <p:spPr>
          <a:xfrm>
            <a:off x="822960" y="698436"/>
            <a:ext cx="1168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fornian FB" panose="0207040306080B030204" pitchFamily="18" charset="0"/>
              </a:rPr>
              <a:t>3. How does the unit price vary across products and orders? </a:t>
            </a:r>
            <a:endParaRPr lang="en-IN" sz="3200" b="1" dirty="0">
              <a:latin typeface="Californian FB" panose="0207040306080B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379ED6-9F51-1065-FEB2-13D988EE6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253" y="2161298"/>
            <a:ext cx="4648967" cy="39074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901E8D-2095-69CD-A45C-6CAB90615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53" y="1981647"/>
            <a:ext cx="4561840" cy="4266754"/>
          </a:xfrm>
          <a:prstGeom prst="rect">
            <a:avLst/>
          </a:prstGeom>
        </p:spPr>
      </p:pic>
      <p:pic>
        <p:nvPicPr>
          <p:cNvPr id="9" name="Picture 8" descr="Innomatics Technology Hub in JNTU, Kukatpally, Hyderabad">
            <a:extLst>
              <a:ext uri="{FF2B5EF4-FFF2-40B4-BE49-F238E27FC236}">
                <a16:creationId xmlns:a16="http://schemas.microsoft.com/office/drawing/2014/main" id="{FBE6B751-82F9-27DF-2BE4-C92A9AD272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347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D7549-F345-7BC7-8B20-8B65613C7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87F1BC38-F20A-6495-FDE7-49D737B029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E8B8C8-CFBE-77D4-A563-645EBEE40580}"/>
              </a:ext>
            </a:extLst>
          </p:cNvPr>
          <p:cNvSpPr txBox="1"/>
          <p:nvPr/>
        </p:nvSpPr>
        <p:spPr>
          <a:xfrm>
            <a:off x="802640" y="741680"/>
            <a:ext cx="1054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latin typeface="Californian FB" panose="0207040306080B030204" pitchFamily="18" charset="0"/>
              </a:rPr>
              <a:t>Conclusion</a:t>
            </a:r>
            <a:endParaRPr lang="en-IN" sz="3200" b="1" u="sng" dirty="0">
              <a:latin typeface="Californian FB" panose="0207040306080B030204" pitchFamily="18" charset="0"/>
            </a:endParaRPr>
          </a:p>
        </p:txBody>
      </p:sp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0F02DB50-00B5-058F-04C1-31F590204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B642E5-41D3-00FD-0C33-CC9EDF5E87B8}"/>
              </a:ext>
            </a:extLst>
          </p:cNvPr>
          <p:cNvSpPr txBox="1"/>
          <p:nvPr/>
        </p:nvSpPr>
        <p:spPr>
          <a:xfrm>
            <a:off x="634180" y="1461192"/>
            <a:ext cx="109236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2400" b="1" dirty="0">
              <a:latin typeface="Californian FB" panose="0207040306080B030204" pitchFamily="18" charset="0"/>
            </a:endParaRPr>
          </a:p>
          <a:p>
            <a:pPr algn="just"/>
            <a:r>
              <a:rPr lang="en-IN" sz="2400" b="1" dirty="0">
                <a:latin typeface="Californian FB" panose="0207040306080B030204" pitchFamily="18" charset="0"/>
              </a:rPr>
              <a:t>This SQL-based Grocery Store Management project demonstrates how SQL can be used to efficiently manage and </a:t>
            </a:r>
            <a:r>
              <a:rPr lang="en-IN" sz="2400" b="1" dirty="0" err="1">
                <a:latin typeface="Californian FB" panose="0207040306080B030204" pitchFamily="18" charset="0"/>
              </a:rPr>
              <a:t>analyze</a:t>
            </a:r>
            <a:r>
              <a:rPr lang="en-IN" sz="2400" b="1" dirty="0">
                <a:latin typeface="Californian FB" panose="0207040306080B030204" pitchFamily="18" charset="0"/>
              </a:rPr>
              <a:t> grocery store data. By working with customer, product, sales, inventory, and transaction data, the project provides useful insights into store operations and sales performance.</a:t>
            </a:r>
          </a:p>
          <a:p>
            <a:pPr algn="just"/>
            <a:endParaRPr lang="en-IN" sz="2400" b="1" dirty="0">
              <a:latin typeface="Californian FB" panose="0207040306080B030204" pitchFamily="18" charset="0"/>
            </a:endParaRPr>
          </a:p>
          <a:p>
            <a:pPr algn="just"/>
            <a:r>
              <a:rPr lang="en-IN" sz="2400" b="1" dirty="0">
                <a:latin typeface="Californian FB" panose="0207040306080B030204" pitchFamily="18" charset="0"/>
              </a:rPr>
              <a:t>The analysis helps identify best-selling products, customer purchasing patterns, sales trends, and inventory requirements. Overall, the project shows how database management and SQL queries can support better decision-making, improve operational efficiency, and help manage a grocery store effectively.</a:t>
            </a:r>
          </a:p>
          <a:p>
            <a:pPr algn="just"/>
            <a:endParaRPr lang="en-IN" sz="2400" b="1" dirty="0">
              <a:latin typeface="Californian FB" panose="0207040306080B030204" pitchFamily="18" charset="0"/>
            </a:endParaRP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80672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1F807-B37D-D77A-DCB0-BB7B4A6F7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illustration of a grocery store aisle with shopping cart and sale signs">
            <a:extLst>
              <a:ext uri="{FF2B5EF4-FFF2-40B4-BE49-F238E27FC236}">
                <a16:creationId xmlns:a16="http://schemas.microsoft.com/office/drawing/2014/main" id="{560B22E1-9C83-2475-678E-9D3FF1DD0E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nnomatics Technology Hub in JNTU, Kukatpally, Hyderabad">
            <a:extLst>
              <a:ext uri="{FF2B5EF4-FFF2-40B4-BE49-F238E27FC236}">
                <a16:creationId xmlns:a16="http://schemas.microsoft.com/office/drawing/2014/main" id="{03B660FC-0BF5-E75D-9F48-1CC2D62AC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46960" cy="802640"/>
          </a:xfrm>
          <a:prstGeom prst="rect">
            <a:avLst/>
          </a:prstGeom>
        </p:spPr>
      </p:pic>
      <p:pic>
        <p:nvPicPr>
          <p:cNvPr id="9" name="object 2">
            <a:extLst>
              <a:ext uri="{FF2B5EF4-FFF2-40B4-BE49-F238E27FC236}">
                <a16:creationId xmlns:a16="http://schemas.microsoft.com/office/drawing/2014/main" id="{397FF42F-F474-2A9E-C755-FDD356A8319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171" y="2324871"/>
            <a:ext cx="12087829" cy="26801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032D68-A6EA-86F9-C5E9-5C77EF29160B}"/>
              </a:ext>
            </a:extLst>
          </p:cNvPr>
          <p:cNvSpPr txBox="1"/>
          <p:nvPr/>
        </p:nvSpPr>
        <p:spPr>
          <a:xfrm>
            <a:off x="2901388" y="2982200"/>
            <a:ext cx="63892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b="1" dirty="0">
                <a:solidFill>
                  <a:schemeClr val="bg1"/>
                </a:solidFill>
                <a:latin typeface="Californian FB" panose="0207040306080B030204" pitchFamily="18" charset="0"/>
              </a:rPr>
              <a:t>THANK YOU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2BA15-D859-D387-1904-8632612C93F7}"/>
              </a:ext>
            </a:extLst>
          </p:cNvPr>
          <p:cNvSpPr txBox="1"/>
          <p:nvPr/>
        </p:nvSpPr>
        <p:spPr>
          <a:xfrm>
            <a:off x="8530936" y="6182627"/>
            <a:ext cx="3390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fornian FB" panose="0207040306080B030204" pitchFamily="18" charset="0"/>
              </a:rPr>
              <a:t>Digoju Prabhukumar</a:t>
            </a:r>
          </a:p>
        </p:txBody>
      </p:sp>
    </p:spTree>
    <p:extLst>
      <p:ext uri="{BB962C8B-B14F-4D97-AF65-F5344CB8AC3E}">
        <p14:creationId xmlns:p14="http://schemas.microsoft.com/office/powerpoint/2010/main" val="1573912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637</Words>
  <Application>Microsoft Office PowerPoint</Application>
  <PresentationFormat>Widescreen</PresentationFormat>
  <Paragraphs>61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Californian FB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Prabhukumar Digoju</dc:creator>
  <cp:lastModifiedBy>Prabhukumar Digoju</cp:lastModifiedBy>
  <cp:revision>4</cp:revision>
  <dcterms:created xsi:type="dcterms:W3CDTF">2026-07-15T07:54:06Z</dcterms:created>
  <dcterms:modified xsi:type="dcterms:W3CDTF">2026-09-14T07:46:10Z</dcterms:modified>
</cp:coreProperties>
</file>